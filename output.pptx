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800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272"/>
                </a:solidFill>
                <a:latin typeface="Arial"/>
              </a:rPr>
              <a:t>Portfolio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5750" y="714375"/>
          <a:ext cx="8572500" cy="171450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3000375"/>
                <a:gridCol w="762000"/>
                <a:gridCol w="571500"/>
                <a:gridCol w="571500"/>
                <a:gridCol w="666750"/>
                <a:gridCol w="3000375"/>
              </a:tblGrid>
              <a:tr h="2143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</a:rPr>
                        <a:t>Project Name</a:t>
                      </a:r>
                    </a:p>
                  </a:txBody>
                  <a:tcPr marL="38100" marR="38100" marT="19050" marB="19050">
                    <a:solidFill>
                      <a:srgbClr val="006272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8100" marR="38100" marT="19050" marB="19050">
                    <a:solidFill>
                      <a:srgbClr val="006272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</a:rPr>
                        <a:t>Mood</a:t>
                      </a:r>
                    </a:p>
                  </a:txBody>
                  <a:tcPr marL="38100" marR="38100" marT="19050" marB="19050">
                    <a:solidFill>
                      <a:srgbClr val="006272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38100" marR="38100" marT="19050" marB="19050">
                    <a:solidFill>
                      <a:srgbClr val="006272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</a:rPr>
                        <a:t>Progress</a:t>
                      </a:r>
                    </a:p>
                  </a:txBody>
                  <a:tcPr marL="38100" marR="38100" marT="19050" marB="19050">
                    <a:solidFill>
                      <a:srgbClr val="006272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FFFFFF"/>
                          </a:solidFill>
                          <a:latin typeface="Arial"/>
                        </a:rPr>
                        <a:t>Program</a:t>
                      </a:r>
                    </a:p>
                  </a:txBody>
                  <a:tcPr marL="38100" marR="38100" marT="19050" marB="19050">
                    <a:solidFill>
                      <a:srgbClr val="006272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143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Mise en place d'un outil de com' inApp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Finished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22C55E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Industrialiser nos process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143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Remplacement du système de paiement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Solution Chosen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F59E0B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EF44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Industrialiser nos process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143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Lancement du marché Espagnol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Ongoing Sourcing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EF4444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F59E0B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Programme Gamma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143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Management de la gestion des stocks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22C55E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F59E0B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Programme Gamma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143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Ticket restau dématérialisés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Arbitrage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22C55E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Programme performance 2024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143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Industrialisation de nos KPI métier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Solution Chosen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F59E0B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F59E0B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Programme performance 2024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143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Nouveau plan de compétence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Solution Chosen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22C55E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>
                          <a:solidFill>
                            <a:srgbClr val="F59E0B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Programme performance 2024</a:t>
                      </a:r>
                    </a:p>
                  </a:txBody>
                  <a:tcPr marL="38100" marR="38100" marT="19050" marB="19050">
                    <a:solidFill>
                      <a:srgbClr val="F9F9F9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5750" y="4476750"/>
            <a:ext cx="7620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666666"/>
                </a:solidFill>
                <a:latin typeface="Arial"/>
              </a:rPr>
              <a:t>Legend:</a:t>
            </a:r>
            <a:r>
              <a:rPr sz="825" b="0">
                <a:solidFill>
                  <a:srgbClr val="666666"/>
                </a:solidFill>
                <a:latin typeface="Arial"/>
              </a:rPr>
              <a:t> Mood: </a:t>
            </a:r>
            <a:r>
              <a:rPr sz="825" b="0">
                <a:solidFill>
                  <a:srgbClr val="22C55E"/>
                </a:solidFill>
                <a:latin typeface="Arial"/>
              </a:rPr>
              <a:t>●</a:t>
            </a:r>
            <a:r>
              <a:rPr sz="825" b="0">
                <a:solidFill>
                  <a:srgbClr val="666666"/>
                </a:solidFill>
                <a:latin typeface="Arial"/>
              </a:rPr>
              <a:t> Good </a:t>
            </a:r>
            <a:r>
              <a:rPr sz="825" b="0">
                <a:solidFill>
                  <a:srgbClr val="F59E0B"/>
                </a:solidFill>
                <a:latin typeface="Arial"/>
              </a:rPr>
              <a:t>●</a:t>
            </a:r>
            <a:r>
              <a:rPr sz="825" b="0">
                <a:solidFill>
                  <a:srgbClr val="666666"/>
                </a:solidFill>
                <a:latin typeface="Arial"/>
              </a:rPr>
              <a:t> Complicated </a:t>
            </a:r>
            <a:r>
              <a:rPr sz="825" b="0">
                <a:solidFill>
                  <a:srgbClr val="EF4444"/>
                </a:solidFill>
                <a:latin typeface="Arial"/>
              </a:rPr>
              <a:t>●</a:t>
            </a:r>
            <a:r>
              <a:rPr sz="825" b="0">
                <a:solidFill>
                  <a:srgbClr val="666666"/>
                </a:solidFill>
                <a:latin typeface="Arial"/>
              </a:rPr>
              <a:t> Blocked | Risk: </a:t>
            </a:r>
            <a:r>
              <a:rPr sz="825" b="0">
                <a:solidFill>
                  <a:srgbClr val="22C55E"/>
                </a:solidFill>
                <a:latin typeface="Arial"/>
              </a:rPr>
              <a:t>●</a:t>
            </a:r>
            <a:r>
              <a:rPr sz="825" b="0">
                <a:solidFill>
                  <a:srgbClr val="666666"/>
                </a:solidFill>
                <a:latin typeface="Arial"/>
              </a:rPr>
              <a:t> Low </a:t>
            </a:r>
            <a:r>
              <a:rPr sz="825" b="0">
                <a:solidFill>
                  <a:srgbClr val="F59E0B"/>
                </a:solidFill>
                <a:latin typeface="Arial"/>
              </a:rPr>
              <a:t>●</a:t>
            </a:r>
            <a:r>
              <a:rPr sz="825" b="0">
                <a:solidFill>
                  <a:srgbClr val="666666"/>
                </a:solidFill>
                <a:latin typeface="Arial"/>
              </a:rPr>
              <a:t> Medium </a:t>
            </a:r>
            <a:r>
              <a:rPr sz="825" b="0">
                <a:solidFill>
                  <a:srgbClr val="EF4444"/>
                </a:solidFill>
                <a:latin typeface="Arial"/>
              </a:rPr>
              <a:t>●</a:t>
            </a:r>
            <a:r>
              <a:rPr sz="825" b="0">
                <a:solidFill>
                  <a:srgbClr val="666666"/>
                </a:solidFill>
                <a:latin typeface="Arial"/>
              </a:rPr>
              <a:t> High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3733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272"/>
                </a:solidFill>
                <a:latin typeface="Arial"/>
              </a:rPr>
              <a:t>Project review : Com' inApp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6200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8105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DESCRIPTION &amp; EXPECTED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52500"/>
            <a:ext cx="4000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50" y="10096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10096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Améliorer la connaissance des fonctionnalités plateforme pour augmenter l'engagement utilisateur.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750" y="166687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" y="168592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SCOPE &amp; MILESTONES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750" y="1857375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50" y="19145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19145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Deployment area: Direction generale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" y="20859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20859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Progress: 66%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22574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22574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End users: Platform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50" y="24288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24288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Timeline: Aug 2024 - Oct 2024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750" y="271462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273367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750" y="2905125"/>
            <a:ext cx="4000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950" y="29622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" y="29622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Status: Finished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" y="31337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50" y="3133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Milestone progress: 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950" y="33051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250" y="33051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Goal: Améliorer l'engagement des clients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5750" y="371475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" y="373380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NEXT STEPS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5750" y="3905250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950" y="39624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" y="39624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Project completed - monitoring phase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950" y="41338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41338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Evaluate user engagement 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950" y="43053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43053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Plan potential enhancements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7620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7810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DECISIONS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9525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8200" y="100965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Made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8200" y="11430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2500" y="11430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Va-t-on plus loin sur ce POC ? - Study phase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8200" y="13144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2500" y="13144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Go / no go ? - Must have decision pending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20955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21145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RISKS &amp; STATUS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286000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8200" y="2343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2500" y="2343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Risk Level: </a:t>
            </a:r>
            <a:r>
              <a:rPr sz="825" b="0">
                <a:solidFill>
                  <a:srgbClr val="22C55E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8200" y="25146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2500" y="25146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Importance: Life Changing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8200" y="26860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0" y="26860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Owner: Magalie AirSaas (PMO)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286125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3305175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TRENDS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76625"/>
            <a:ext cx="4286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8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Scope 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Schedule 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Budget ▲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390525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392430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095750"/>
            <a:ext cx="4286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8200" y="415290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Build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8200" y="42862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42862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BAC : 500 K€ (Dev, Integration, hosting, maintenance, support)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44577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62500" y="44577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Actual : 245 K€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8200" y="4629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62500" y="4629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EAC : 245 K€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3733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272"/>
                </a:solidFill>
                <a:latin typeface="Arial"/>
              </a:rPr>
              <a:t>Project review: Com' inApp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8572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87630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1047750"/>
            <a:ext cx="8572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4800" y="1066800"/>
          <a:ext cx="8534400" cy="66675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Initial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Consumed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Landing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CAPEX (FY2025)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500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500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245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245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OPEX (FY2025)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1,240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1,240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85750" y="22860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" y="23050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PROJECT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50" y="2476500"/>
            <a:ext cx="8572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50" y="25336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25336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Product Owner:</a:t>
            </a:r>
            <a:r>
              <a:rPr sz="825" b="0">
                <a:solidFill>
                  <a:srgbClr val="333333"/>
                </a:solidFill>
                <a:latin typeface="Arial"/>
              </a:rPr>
              <a:t> Magalie AirSaas (PMO)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" y="27051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270510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Sponsor:</a:t>
            </a:r>
            <a:r>
              <a:rPr sz="825" b="0">
                <a:solidFill>
                  <a:srgbClr val="333333"/>
                </a:solidFill>
                <a:latin typeface="Arial"/>
              </a:rPr>
              <a:t> bertran ruiz (DG)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" y="28765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28765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PMO:</a:t>
            </a:r>
            <a:r>
              <a:rPr sz="825" b="0">
                <a:solidFill>
                  <a:srgbClr val="333333"/>
                </a:solidFill>
                <a:latin typeface="Arial"/>
              </a:rPr>
              <a:t> Marisella Pacheco (Responsable Produit Design)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4429125"/>
            <a:ext cx="2857500" cy="14287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06272"/>
                </a:solidFill>
                <a:latin typeface="Arial"/>
              </a:rPr>
              <a:t>See the link: Followup budget 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3733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272"/>
                </a:solidFill>
                <a:latin typeface="Arial"/>
              </a:rPr>
              <a:t>Com' inApp -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14375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33425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04875"/>
            <a:ext cx="8572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50" y="9810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Project Timeline:</a:t>
            </a:r>
            <a:r>
              <a:rPr sz="800" b="0">
                <a:solidFill>
                  <a:srgbClr val="333333"/>
                </a:solidFill>
                <a:latin typeface="Arial"/>
              </a:rPr>
              <a:t> Aug 1, 2024 - Oct 16,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50" y="1133475"/>
            <a:ext cx="8343900" cy="1905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0050" y="1133475"/>
            <a:ext cx="5506974" cy="190500"/>
          </a:xfrm>
          <a:prstGeom prst="roundRect">
            <a:avLst/>
          </a:prstGeom>
          <a:solidFill>
            <a:srgbClr val="006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8150" y="1133475"/>
            <a:ext cx="6858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66%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" y="14001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Key Milestones: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160020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160020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1er quarter plan sur le périmètre choisi - In Progress (40%)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1724025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1724025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Acheter les licenses - In Progress (7%)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184785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184785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Ajustements post-pilote -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" y="19716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Program:</a:t>
            </a:r>
            <a:r>
              <a:rPr sz="800" b="0">
                <a:solidFill>
                  <a:srgbClr val="333333"/>
                </a:solidFill>
                <a:latin typeface="Arial"/>
              </a:rPr>
              <a:t> Industrialiser nos process par des méthodes et des outils
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750" y="3619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750" y="36385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TEAM WORKLOAD IN M/D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285750" y="3810000"/>
          <a:ext cx="8572500" cy="87630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762000"/>
                <a:gridCol w="1562100"/>
                <a:gridCol w="1562100"/>
                <a:gridCol w="1562100"/>
                <a:gridCol w="1562100"/>
                <a:gridCol w="1562100"/>
              </a:tblGrid>
              <a:tr h="2190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Projet/Offre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IT Sécu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IT Infra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Transfo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Budget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Used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 do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3733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272"/>
                </a:solidFill>
                <a:latin typeface="Arial"/>
              </a:rPr>
              <a:t>Project review : Système de paiement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6200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8105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DESCRIPTION &amp; EXPECTED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52500"/>
            <a:ext cx="4000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50" y="10096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10096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Remplacer l'outil historique coûteux par une solution moderne avec données analytiques sur les transactions.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750" y="166687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" y="168592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SCOPE &amp; MILESTONES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750" y="1857375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50" y="19145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19145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Deployment area: DSI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" y="20859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20859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Milestone progress: 55%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22574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22574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End users: All departments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50" y="24288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24288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Timeline: May 2022 - Sep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750" y="271462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273367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750" y="2905125"/>
            <a:ext cx="4000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950" y="29622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" y="29622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Status: Solution Chosen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" y="31337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50" y="3133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Overall progress: 56%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950" y="33051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250" y="33051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Effort: 206 m/d planned, 15 m/d used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5750" y="371475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" y="373380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NEXT STEPS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5750" y="3905250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950" y="39624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" y="39624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Complete Mollie integration setup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950" y="41338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41338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Finalize data migration 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950" y="43053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43053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User acceptance testing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7620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7810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DECISIONS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9525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8200" y="100965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Made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8200" y="11430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2500" y="11430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Avancer le lancement de 1 mois - Under study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8200" y="13144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2500" y="13144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Decision maker: Dominique Rocheteau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20955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21145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RISKS &amp; STATUS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286000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8200" y="2343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2500" y="2343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Risk Level: </a:t>
            </a:r>
            <a:r>
              <a:rPr sz="825" b="0">
                <a:solidFill>
                  <a:srgbClr val="EF4444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8200" y="25146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2500" y="25146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Risque d'arrêt de fonctionnement du service - API change imminent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8200" y="26860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0" y="26860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Alerte équipes DATA - audit timing issue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286125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3305175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TRENDS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76625"/>
            <a:ext cx="4286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8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Scope 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Schedule 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Budget 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390525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392430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095750"/>
            <a:ext cx="4286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8200" y="415290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Build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8200" y="42862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42862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BAC : 78 K€ (Dev, Integration, hosting, maintenance, support)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44577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62500" y="44577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Actual : 15 K€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8200" y="4629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62500" y="4629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EAC : 68 K€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3733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272"/>
                </a:solidFill>
                <a:latin typeface="Arial"/>
              </a:rPr>
              <a:t>Project review: Système de paiement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8572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87630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1047750"/>
            <a:ext cx="8572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4800" y="1066800"/>
          <a:ext cx="8534400" cy="87630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2133600"/>
                <a:gridCol w="2133600"/>
                <a:gridCol w="2133600"/>
                <a:gridCol w="2133600"/>
              </a:tblGrid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Budget Line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Consumed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Landing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Set up Mollie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57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48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Licences Mollie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30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30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Etude de faisabilité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21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20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85750" y="25717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" y="259080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PROJECT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50" y="2762250"/>
            <a:ext cx="8572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50" y="28194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281940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Owner:</a:t>
            </a:r>
            <a:r>
              <a:rPr sz="825" b="0">
                <a:solidFill>
                  <a:srgbClr val="333333"/>
                </a:solidFill>
                <a:latin typeface="Arial"/>
              </a:rPr>
              <a:t> Maxime Exterisa (Chef de projet transverse)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" y="29908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29908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Sponsor:</a:t>
            </a:r>
            <a:r>
              <a:rPr sz="825" b="0">
                <a:solidFill>
                  <a:srgbClr val="333333"/>
                </a:solidFill>
                <a:latin typeface="Arial"/>
              </a:rPr>
              <a:t> bertran ruiz (DG)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" y="31623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316230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PMO:</a:t>
            </a:r>
            <a:r>
              <a:rPr sz="825" b="0">
                <a:solidFill>
                  <a:srgbClr val="333333"/>
                </a:solidFill>
                <a:latin typeface="Arial"/>
              </a:rPr>
              <a:t> Emilie Delpante (PMO DSI)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4429125"/>
            <a:ext cx="2857500" cy="14287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06272"/>
                </a:solidFill>
                <a:latin typeface="Arial"/>
              </a:rPr>
              <a:t>See the link: Followup budget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3733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272"/>
                </a:solidFill>
                <a:latin typeface="Arial"/>
              </a:rPr>
              <a:t>Système de paiement -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14375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33425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04875"/>
            <a:ext cx="8572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50" y="9810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Project Timeline:</a:t>
            </a:r>
            <a:r>
              <a:rPr sz="800" b="0">
                <a:solidFill>
                  <a:srgbClr val="333333"/>
                </a:solidFill>
                <a:latin typeface="Arial"/>
              </a:rPr>
              <a:t> May 2, 2022 - Sep 30,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50" y="1133475"/>
            <a:ext cx="8343900" cy="1905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0050" y="1133475"/>
            <a:ext cx="4672584" cy="190500"/>
          </a:xfrm>
          <a:prstGeom prst="roundRect">
            <a:avLst/>
          </a:prstGeom>
          <a:solidFill>
            <a:srgbClr val="006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8150" y="1133475"/>
            <a:ext cx="6858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56%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" y="14001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Key Milestones: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160020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160020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1er quarter plan sur le périmètre choisi - In Progress (40%)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1724025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1724025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Acheter les licenses - In Progress (7%)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184785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184785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Ajustements post-pilote -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" y="19716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Expected Benefits:</a:t>
            </a:r>
            <a:r>
              <a:rPr sz="800" b="0">
                <a:solidFill>
                  <a:srgbClr val="333333"/>
                </a:solidFill>
                <a:latin typeface="Arial"/>
              </a:rPr>
              <a:t> Diminution des coûts de transaction de 10%, fluidité UX, nouveau contrat
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750" y="3619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750" y="36385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TEAM WORKLOAD IN M/D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285750" y="3810000"/>
          <a:ext cx="8572500" cy="87630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762000"/>
                <a:gridCol w="1562100"/>
                <a:gridCol w="1562100"/>
                <a:gridCol w="1562100"/>
                <a:gridCol w="1562100"/>
                <a:gridCol w="1562100"/>
              </a:tblGrid>
              <a:tr h="2190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Services gén.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Dir. Opé.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Maintenance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IT DATA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Budget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Used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 do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26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272"/>
                </a:solidFill>
                <a:latin typeface="Arial"/>
              </a:rPr>
              <a:t>Project review : Marché Espagnol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6200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8105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DESCRIPTION &amp; EXPECTED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52500"/>
            <a:ext cx="4000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50" y="10096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10096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Expansion vers l'Espagne pour diversifier les revenus et renforcer la présence internationale.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750" y="166687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" y="168592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SCOPE &amp; MILESTONES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750" y="1857375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50" y="19145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19145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Deployment area: Direction generale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" y="20859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20859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Milestone progress: 66%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22574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22574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End users: Spanish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50" y="24288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24288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Timeline: Jan 2025 - Dec 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750" y="271462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273367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750" y="2905125"/>
            <a:ext cx="4000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950" y="29622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" y="29622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Status: Ongoing Sourcing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" y="31337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50" y="3133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Overall progress: 54%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950" y="33051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250" y="33051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Effort: 148 m/d planned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5750" y="371475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" y="373380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NEXT STEPS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5750" y="3905250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950" y="39624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" y="39624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Identify key local partners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950" y="41338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41338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Structure commercial offer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950" y="43053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43053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Adapt product for Spanish market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7620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7810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DECISIONS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9525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8200" y="100965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Made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8200" y="11430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2500" y="11430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Go / no go ? - Must have, deadline Jan 31,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8200" y="13144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2500" y="13144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Decision maker: bertran ruiz (DG)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20955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21145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RISKS &amp; STATUS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286000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8200" y="2343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2500" y="2343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Risk Level: </a:t>
            </a:r>
            <a:r>
              <a:rPr sz="825" b="0">
                <a:solidFill>
                  <a:srgbClr val="F59E0B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8200" y="25146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2500" y="25146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Mood: </a:t>
            </a:r>
            <a:r>
              <a:rPr sz="825" b="0">
                <a:solidFill>
                  <a:srgbClr val="EF4444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Blocked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8200" y="26860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0" y="26860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Owner: Simon Vacher (CPO)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286125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3305175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TRENDS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76625"/>
            <a:ext cx="4286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8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Scope 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Schedule 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Budget 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390525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392430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095750"/>
            <a:ext cx="4286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8200" y="415290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Build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8200" y="42862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42862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BAC : 150 K€ (Dev, Integration, hosting, maintenance, support)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44577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62500" y="44577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Actual : - K€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8200" y="4629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62500" y="4629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EAC : - K€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26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272"/>
                </a:solidFill>
                <a:latin typeface="Arial"/>
              </a:rPr>
              <a:t>Project review: Marché Espagnol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8572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87630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1047750"/>
            <a:ext cx="8572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4800" y="1066800"/>
          <a:ext cx="8534400" cy="66675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Initial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Consumed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Landing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CAPEX (FY2025)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150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OPEX (FY2025)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85750" y="22860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" y="23050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PROJECT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50" y="2476500"/>
            <a:ext cx="8572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50" y="25336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25336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Owner:</a:t>
            </a:r>
            <a:r>
              <a:rPr sz="825" b="0">
                <a:solidFill>
                  <a:srgbClr val="333333"/>
                </a:solidFill>
                <a:latin typeface="Arial"/>
              </a:rPr>
              <a:t> Simon Vacher (CPO)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" y="27051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270510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Sponsors:</a:t>
            </a:r>
            <a:r>
              <a:rPr sz="825" b="0">
                <a:solidFill>
                  <a:srgbClr val="333333"/>
                </a:solidFill>
                <a:latin typeface="Arial"/>
              </a:rPr>
              <a:t> Arnold Bigair (PM), Matthieu Delanoë (CTO)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" y="28765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28765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PMO:</a:t>
            </a:r>
            <a:r>
              <a:rPr sz="825" b="0">
                <a:solidFill>
                  <a:srgbClr val="333333"/>
                </a:solidFill>
                <a:latin typeface="Arial"/>
              </a:rPr>
              <a:t> Emilie Delpante (PMO DSI)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950" y="30480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250" y="304800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Business Lead:</a:t>
            </a:r>
            <a:r>
              <a:rPr sz="825" b="0">
                <a:solidFill>
                  <a:srgbClr val="333333"/>
                </a:solidFill>
                <a:latin typeface="Arial"/>
              </a:rPr>
              <a:t> bertran ruiz (DG)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750" y="4429125"/>
            <a:ext cx="2857500" cy="14287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06272"/>
                </a:solidFill>
                <a:latin typeface="Arial"/>
              </a:rPr>
              <a:t>See the link: Followup budget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26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272"/>
                </a:solidFill>
                <a:latin typeface="Arial"/>
              </a:rPr>
              <a:t>Marché Espagnol -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14375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33425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04875"/>
            <a:ext cx="8572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50" y="9810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Project Timeline:</a:t>
            </a:r>
            <a:r>
              <a:rPr sz="800" b="0">
                <a:solidFill>
                  <a:srgbClr val="333333"/>
                </a:solidFill>
                <a:latin typeface="Arial"/>
              </a:rPr>
              <a:t> Jan 2, 2025 - Dec 31,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50" y="1133475"/>
            <a:ext cx="8343900" cy="1905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0050" y="1133475"/>
            <a:ext cx="4505706" cy="190500"/>
          </a:xfrm>
          <a:prstGeom prst="roundRect">
            <a:avLst/>
          </a:prstGeom>
          <a:solidFill>
            <a:srgbClr val="006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8150" y="1133475"/>
            <a:ext cx="6858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54%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" y="14001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Key Milestones: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160020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160020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1er quarter plan sur le périmètre choisi - In Progress (40%)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1724025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1724025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Acheter les licenses - In Progress (7%)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184785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184785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Ajustements post-pilote -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" y="19716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Program:</a:t>
            </a:r>
            <a:r>
              <a:rPr sz="800" b="0">
                <a:solidFill>
                  <a:srgbClr val="333333"/>
                </a:solidFill>
                <a:latin typeface="Arial"/>
              </a:rPr>
              <a:t> Programme Gamma
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750" y="3619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750" y="36385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TEAM WORKLOAD IN M/D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285750" y="3810000"/>
          <a:ext cx="8572500" cy="87630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762000"/>
                <a:gridCol w="1562100"/>
                <a:gridCol w="1562100"/>
                <a:gridCol w="1562100"/>
                <a:gridCol w="1562100"/>
                <a:gridCol w="1562100"/>
              </a:tblGrid>
              <a:tr h="2190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Mkt-data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Transfo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Projet/Offre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IT Sécu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Budget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Used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 do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000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006272"/>
                </a:solidFill>
                <a:latin typeface="Arial"/>
              </a:rPr>
              <a:t>Project review : Gestion des stocks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6200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8105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DESCRIPTION &amp; EXPECTED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52500"/>
            <a:ext cx="4000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50" y="10096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10096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Remplacer l'outil obsolète par un SaaS moderne pour réduire la maintenance et les coûts de 20%.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750" y="166687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" y="168592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SCOPE &amp; MILESTONES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750" y="1857375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50" y="19145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19145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Deployment area: DSI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" y="20859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20859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Milestone progress: 32%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22574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22574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End users: Inventory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50" y="24288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24288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Timeline: Mar 2024 - Jan 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750" y="271462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273367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750" y="2905125"/>
            <a:ext cx="4000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950" y="29622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" y="29622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Status: In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" y="31337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50" y="3133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Overall progress: 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950" y="33051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250" y="33051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Effort: 200 m/d planned, 5 m/d used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5750" y="371475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" y="373380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NEXT STEPS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5750" y="3905250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950" y="39624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" y="39624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Complete SaaS vendor selection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950" y="41338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41338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Data migration planning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950" y="43053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43053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User training preparation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7620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7810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DECISIONS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9525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8200" y="100965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Made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8200" y="11430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2500" y="11430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Go / no go ? - Must have decision pending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8200" y="13144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2500" y="13144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Decision maker: bertran ruiz (DG)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20955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21145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RISKS &amp; STATUS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286000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8200" y="2343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2500" y="2343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Risk Level: </a:t>
            </a:r>
            <a:r>
              <a:rPr sz="825" b="0">
                <a:solidFill>
                  <a:srgbClr val="F59E0B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8200" y="25146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2500" y="25146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Mood: </a:t>
            </a:r>
            <a:r>
              <a:rPr sz="825" b="0">
                <a:solidFill>
                  <a:srgbClr val="22C55E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Good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8200" y="26860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0" y="26860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Owner: Alfred Matthieu (Tester)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286125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3305175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TRENDS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76625"/>
            <a:ext cx="4286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8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Scope 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Schedule 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Budget 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390525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392430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095750"/>
            <a:ext cx="4286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8200" y="415290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Build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8200" y="42862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42862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BAC : - K€ (Dev, Integration, hosting, maintenance, support)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44577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62500" y="44577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Actual : - K€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8200" y="4629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62500" y="4629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EAC : - K€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000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006272"/>
                </a:solidFill>
                <a:latin typeface="Arial"/>
              </a:rPr>
              <a:t>Project review: Gestion des stocks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8572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87630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1047750"/>
            <a:ext cx="8572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4800" y="1066800"/>
          <a:ext cx="8534400" cy="66675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Initial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Consumed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Landing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85750" y="2095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" y="21145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PROJECT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50" y="2286000"/>
            <a:ext cx="8572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50" y="2343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23431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Owner:</a:t>
            </a:r>
            <a:r>
              <a:rPr sz="825" b="0">
                <a:solidFill>
                  <a:srgbClr val="333333"/>
                </a:solidFill>
                <a:latin typeface="Arial"/>
              </a:rPr>
              <a:t> Alfred Matthieu (Tester)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" y="25146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251460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Sponsor:</a:t>
            </a:r>
            <a:r>
              <a:rPr sz="825" b="0">
                <a:solidFill>
                  <a:srgbClr val="333333"/>
                </a:solidFill>
                <a:latin typeface="Arial"/>
              </a:rPr>
              <a:t> Benedek Zsargó (Developer)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" y="26860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26860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Business Leads:</a:t>
            </a:r>
            <a:r>
              <a:rPr sz="825" b="0">
                <a:solidFill>
                  <a:srgbClr val="333333"/>
                </a:solidFill>
                <a:latin typeface="Arial"/>
              </a:rPr>
              <a:t> Alex Lamy (PM), Jérôme D. (Content Manager), Marisella Pacheco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4429125"/>
            <a:ext cx="2857500" cy="14287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06272"/>
                </a:solidFill>
                <a:latin typeface="Arial"/>
              </a:rPr>
              <a:t>See the link: Followup budget 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000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006272"/>
                </a:solidFill>
                <a:latin typeface="Arial"/>
              </a:rPr>
              <a:t>Gestion des stocks -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14375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33425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04875"/>
            <a:ext cx="8572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50" y="9810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Project Timeline:</a:t>
            </a:r>
            <a:r>
              <a:rPr sz="800" b="0">
                <a:solidFill>
                  <a:srgbClr val="333333"/>
                </a:solidFill>
                <a:latin typeface="Arial"/>
              </a:rPr>
              <a:t> Mar 3, 2024 - Jan 10,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50" y="1133475"/>
            <a:ext cx="8343900" cy="1905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8150" y="1133475"/>
            <a:ext cx="6858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0%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50" y="14001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Key Milestones: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160020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160020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1er quarter plan sur le périmètre choisi - In Progress (40%)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1724025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1724025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Acheter les licenses - In Progress (7%)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184785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184785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Ajustements post-pilote - To 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50" y="19716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Goals:</a:t>
            </a:r>
            <a:r>
              <a:rPr sz="800" b="0">
                <a:solidFill>
                  <a:srgbClr val="333333"/>
                </a:solidFill>
                <a:latin typeface="Arial"/>
              </a:rPr>
              <a:t> Améliorer l'expérience utilisateur, Devenir data driven
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750" y="3619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750" y="36385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TEAM WORKLOAD IN M/D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85750" y="3810000"/>
          <a:ext cx="8572500" cy="87630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762000"/>
                <a:gridCol w="1301750"/>
                <a:gridCol w="1301750"/>
                <a:gridCol w="1301750"/>
                <a:gridCol w="1301750"/>
                <a:gridCol w="1301750"/>
                <a:gridCol w="1301750"/>
              </a:tblGrid>
              <a:tr h="2190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Encaissement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Transfo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Mkt-data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AirSaas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IT DATA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Budget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Used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 do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26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272"/>
                </a:solidFill>
                <a:latin typeface="Arial"/>
              </a:rPr>
              <a:t>Project review : Ticket restau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6200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8105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DESCRIPTION &amp; EXPECTED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52500"/>
            <a:ext cx="4000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50" y="10096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10096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Système de tickets restaurants dématérialisés pour réduire les coûts et simplifier les processus.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750" y="166687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" y="168592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SCOPE &amp; MILESTONES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750" y="1857375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50" y="19145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19145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Deployment area: Direction generale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" y="20859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20859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Milestone progress: 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22574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22574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End users: All employees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50" y="24288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24288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Timeline: Jun 2025 - Jul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750" y="271462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273367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750" y="2905125"/>
            <a:ext cx="4000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950" y="29622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" y="29622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Status: Arbitrage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" y="31337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50" y="3133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Overall progress: 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950" y="33051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250" y="33051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Effort: 66 m/d planned, 6 m/d used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5750" y="371475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" y="373380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NEXT STEPS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5750" y="3905250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950" y="39624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" y="39624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Vendor selection finalization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950" y="41338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41338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Integration with HR systems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950" y="43053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43053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Employee communication plan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7620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7810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DECISIONS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9525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8200" y="100965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Made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8200" y="11430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2500" y="11430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Go / no go ? - Must have decision pending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8200" y="13144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2500" y="13144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Decision maker: bertran ruiz (DG)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20955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21145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RISKS &amp; STATUS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286000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8200" y="2343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2500" y="2343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Risk Level: </a:t>
            </a:r>
            <a:r>
              <a:rPr sz="825" b="0">
                <a:solidFill>
                  <a:srgbClr val="22C55E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8200" y="25146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2500" y="25146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Mood: 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8200" y="26860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0" y="26860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Owner: Alex Lamy (PM)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286125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3305175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TRENDS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76625"/>
            <a:ext cx="4286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8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Scope 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Schedule 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Budget 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390525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392430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095750"/>
            <a:ext cx="4286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8200" y="415290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Build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8200" y="42862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42862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BAC : 5 K€ (Dev, Integration, hosting, maintenance, support)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44577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62500" y="44577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Actual : 7.5 K€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8200" y="4629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62500" y="4629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EAC : - K€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26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272"/>
                </a:solidFill>
                <a:latin typeface="Arial"/>
              </a:rPr>
              <a:t>Project review: Ticket restau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8572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87630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1047750"/>
            <a:ext cx="8572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4800" y="1066800"/>
          <a:ext cx="8534400" cy="66675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Initial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Consumed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Landing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7.5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150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85750" y="2095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" y="21145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PROJECT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50" y="2286000"/>
            <a:ext cx="8572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50" y="2343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23431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Owner:</a:t>
            </a:r>
            <a:r>
              <a:rPr sz="825" b="0">
                <a:solidFill>
                  <a:srgbClr val="333333"/>
                </a:solidFill>
                <a:latin typeface="Arial"/>
              </a:rPr>
              <a:t> Alex Lamy (PM)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" y="25146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251460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Teams:</a:t>
            </a:r>
            <a:r>
              <a:rPr sz="825" b="0">
                <a:solidFill>
                  <a:srgbClr val="333333"/>
                </a:solidFill>
                <a:latin typeface="Arial"/>
              </a:rPr>
              <a:t> Marketing - Offre, Marketing - data, Transfo et méthode,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750" y="4429125"/>
            <a:ext cx="2857500" cy="14287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06272"/>
                </a:solidFill>
                <a:latin typeface="Arial"/>
              </a:rPr>
              <a:t>See the link: Followup budget file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26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272"/>
                </a:solidFill>
                <a:latin typeface="Arial"/>
              </a:rPr>
              <a:t>Ticket restau -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14375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33425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04875"/>
            <a:ext cx="8572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50" y="9810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Project Timeline:</a:t>
            </a:r>
            <a:r>
              <a:rPr sz="800" b="0">
                <a:solidFill>
                  <a:srgbClr val="333333"/>
                </a:solidFill>
                <a:latin typeface="Arial"/>
              </a:rPr>
              <a:t> Jun 12, 2025 - Jul 9,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50" y="1133475"/>
            <a:ext cx="8343900" cy="1905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0050" y="1133475"/>
            <a:ext cx="834390" cy="190500"/>
          </a:xfrm>
          <a:prstGeom prst="roundRect">
            <a:avLst/>
          </a:prstGeom>
          <a:solidFill>
            <a:srgbClr val="006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8150" y="1133475"/>
            <a:ext cx="6858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10%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" y="14001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Key Milestones: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160020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160020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1er quarter plan sur le périmètre choisi - In Progress (40%)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1724025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1724025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Acheter les licenses - In Progress (7%)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184785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184785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Ajustements post-pilote -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" y="19716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Goals:</a:t>
            </a:r>
            <a:r>
              <a:rPr sz="800" b="0">
                <a:solidFill>
                  <a:srgbClr val="333333"/>
                </a:solidFill>
                <a:latin typeface="Arial"/>
              </a:rPr>
              <a:t> Améliorer l'expérience utilisateur, Recruter 200 personnes
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750" y="3619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750" y="36385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TEAM WORKLOAD IN M/D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285750" y="3810000"/>
          <a:ext cx="8572500" cy="87630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762000"/>
                <a:gridCol w="1562100"/>
                <a:gridCol w="1562100"/>
                <a:gridCol w="1562100"/>
                <a:gridCol w="1562100"/>
                <a:gridCol w="1562100"/>
              </a:tblGrid>
              <a:tr h="2190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Mkt-data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Maintenance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Transfo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Mkt-Offre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Budget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Used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 do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000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006272"/>
                </a:solidFill>
                <a:latin typeface="Arial"/>
              </a:rPr>
              <a:t>Project review : KPI métier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6200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8105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DESCRIPTION &amp; EXPECTED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52500"/>
            <a:ext cx="4000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50" y="10096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10096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Automatiser les métriques avec consolidation automatique pour un reporting cohérent et homogène.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750" y="166687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" y="168592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SCOPE &amp; MILESTONES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750" y="1857375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50" y="19145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19145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Deployment area: Transfo et méthode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" y="20859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20859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Milestone progress: 14%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22574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22574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End users: All departments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50" y="24288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24288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Timeline: Apr 2025 - Mar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750" y="271462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273367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750" y="2905125"/>
            <a:ext cx="4000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950" y="29622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" y="29622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Status: Solution Chosen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" y="31337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50" y="3133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Overall progress: 53%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950" y="33051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250" y="33051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Effort: 90 m/d planned, 40 m/d used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5750" y="371475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" y="373380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NEXT STEPS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5750" y="3905250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950" y="39624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" y="39624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Define common reference framework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950" y="41338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41338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Implement automated collection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950" y="43053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43053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Dashboard development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7620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7810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DECISIONS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9525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8200" y="100965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Made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8200" y="11430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2500" y="11430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Va-t-on plus loin sur ce POC ? - Under study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8200" y="13144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2500" y="13144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Decision maker: bertran ruiz (DG)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20955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21145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RISKS &amp; STATUS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286000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8200" y="2343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2500" y="2343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Risk Level: </a:t>
            </a:r>
            <a:r>
              <a:rPr sz="825" b="0">
                <a:solidFill>
                  <a:srgbClr val="F59E0B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8200" y="25146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2500" y="25146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Mood: </a:t>
            </a:r>
            <a:r>
              <a:rPr sz="825" b="0">
                <a:solidFill>
                  <a:srgbClr val="F59E0B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Complicated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8200" y="26860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0" y="26860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Owner: Matthieu Delanoë (CTO)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286125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3305175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TRENDS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76625"/>
            <a:ext cx="4286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8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Scope 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Schedule 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Budget 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390525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392430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095750"/>
            <a:ext cx="4286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8200" y="415290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Build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8200" y="42862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42862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BAC : 75 K€ (Dev, Integration, hosting, maintenance, support)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44577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62500" y="44577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Actual : 50 K€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8200" y="4629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62500" y="4629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EAC : 77 K€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000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006272"/>
                </a:solidFill>
                <a:latin typeface="Arial"/>
              </a:rPr>
              <a:t>Project review: KPI métier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8572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87630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1047750"/>
            <a:ext cx="8572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4800" y="1066800"/>
          <a:ext cx="8534400" cy="66675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Initial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Consumed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Landing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CAPEX (FY2026)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75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75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50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77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OPEX (FY2026)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12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12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85750" y="22860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" y="23050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PROJECT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50" y="2476500"/>
            <a:ext cx="8572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50" y="25336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25336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Owner:</a:t>
            </a:r>
            <a:r>
              <a:rPr sz="825" b="0">
                <a:solidFill>
                  <a:srgbClr val="333333"/>
                </a:solidFill>
                <a:latin typeface="Arial"/>
              </a:rPr>
              <a:t> Matthieu Delanoë (CTO)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" y="27051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270510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Product Owners:</a:t>
            </a:r>
            <a:r>
              <a:rPr sz="825" b="0">
                <a:solidFill>
                  <a:srgbClr val="333333"/>
                </a:solidFill>
                <a:latin typeface="Arial"/>
              </a:rPr>
              <a:t> sarah Thiebault, Simon Vacher, Thomas Poitau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" y="28765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28765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PMO:</a:t>
            </a:r>
            <a:r>
              <a:rPr sz="825" b="0">
                <a:solidFill>
                  <a:srgbClr val="333333"/>
                </a:solidFill>
                <a:latin typeface="Arial"/>
              </a:rPr>
              <a:t> Audrey Anselmoz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4429125"/>
            <a:ext cx="2857500" cy="14287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06272"/>
                </a:solidFill>
                <a:latin typeface="Arial"/>
              </a:rPr>
              <a:t>See the link: Followup budget file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000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006272"/>
                </a:solidFill>
                <a:latin typeface="Arial"/>
              </a:rPr>
              <a:t>KPI métier -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14375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33425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04875"/>
            <a:ext cx="8572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50" y="9810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Project Timeline:</a:t>
            </a:r>
            <a:r>
              <a:rPr sz="800" b="0">
                <a:solidFill>
                  <a:srgbClr val="333333"/>
                </a:solidFill>
                <a:latin typeface="Arial"/>
              </a:rPr>
              <a:t> Apr 1, 2025 - Mar 1,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50" y="1133475"/>
            <a:ext cx="8343900" cy="1905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0050" y="1133475"/>
            <a:ext cx="4422267" cy="190500"/>
          </a:xfrm>
          <a:prstGeom prst="roundRect">
            <a:avLst/>
          </a:prstGeom>
          <a:solidFill>
            <a:srgbClr val="006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8150" y="1133475"/>
            <a:ext cx="6858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53%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" y="14001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Key Milestones: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160020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160020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1er quarter plan sur le périmètre choisi - In Progress (40%)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1724025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1724025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Acheter les licenses - In Progress (7%)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184785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184785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Ajustements post-pilote -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" y="19716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Goals:</a:t>
            </a:r>
            <a:r>
              <a:rPr sz="800" b="0">
                <a:solidFill>
                  <a:srgbClr val="333333"/>
                </a:solidFill>
                <a:latin typeface="Arial"/>
              </a:rPr>
              <a:t> Réduire dépenses immo 40%, Améliorer UX interne, Devenir data driven
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750" y="3619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750" y="36385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TEAM WORKLOAD IN M/D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285750" y="3810000"/>
          <a:ext cx="8572500" cy="87630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762000"/>
                <a:gridCol w="1301750"/>
                <a:gridCol w="1301750"/>
                <a:gridCol w="1301750"/>
                <a:gridCol w="1301750"/>
                <a:gridCol w="1301750"/>
                <a:gridCol w="1301750"/>
              </a:tblGrid>
              <a:tr h="2190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Mkt-Offre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Maintenance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Transfo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IT Sécu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IT Appli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Budget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Used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 do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26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272"/>
                </a:solidFill>
                <a:latin typeface="Arial"/>
              </a:rPr>
              <a:t>Project review : Plan compétence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6200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8105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DESCRIPTION &amp; EXPECTED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52500"/>
            <a:ext cx="4000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50" y="10096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10096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Améliorer le staffing RH et Marketing avec prise en compte des éléments financiers et simulations.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750" y="166687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" y="168592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SCOPE &amp; MILESTONES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750" y="1857375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50" y="19145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19145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Deployment area: Direction generale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" y="20859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20859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Milestone progress: 38%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" y="22574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22574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End users: RH, Marketing/Com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50" y="24288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24288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Timeline: Jan 2024 - Jan 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750" y="2714625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" y="2733675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750" y="2905125"/>
            <a:ext cx="40005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950" y="29622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" y="29622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Status: Solution Chosen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" y="313372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50" y="3133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Overall progress: 53%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950" y="3305175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250" y="33051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Effort: 30 m/d planned, 3 m/d used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5750" y="3714750"/>
            <a:ext cx="4000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" y="3733800"/>
            <a:ext cx="4000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NEXT STEPS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5750" y="3905250"/>
            <a:ext cx="40005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950" y="39624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" y="39624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Finalize staffing module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950" y="41338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413385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Integration with financial systems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950" y="43053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4305300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User training rollout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7620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7810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DECISIONS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9525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8200" y="100965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Made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8200" y="11430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2500" y="11430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Go / no go ? - Must have decision pending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8200" y="13144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2500" y="13144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Decision maker: bertran ruiz (DG)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209550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211455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RISKS &amp; STATUS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286000"/>
            <a:ext cx="428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8200" y="2343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2500" y="2343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Risk Level: </a:t>
            </a:r>
            <a:r>
              <a:rPr sz="825" b="0">
                <a:solidFill>
                  <a:srgbClr val="F59E0B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48200" y="25146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2500" y="25146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Mood: </a:t>
            </a:r>
            <a:r>
              <a:rPr sz="825" b="0">
                <a:solidFill>
                  <a:srgbClr val="22C55E"/>
                </a:solidFill>
                <a:latin typeface="Arial"/>
              </a:rPr>
              <a:t>●</a:t>
            </a:r>
            <a:r>
              <a:rPr sz="825" b="0">
                <a:solidFill>
                  <a:srgbClr val="333333"/>
                </a:solidFill>
                <a:latin typeface="Arial"/>
              </a:rPr>
              <a:t> Good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8200" y="26860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0" y="26860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Owner: Emilie Delpante (PMO DSI)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286125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3305175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TRENDS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3476625"/>
            <a:ext cx="4286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8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Scope 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Schedule 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200" y="35718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Budget 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3905250"/>
            <a:ext cx="428625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3924300"/>
            <a:ext cx="428625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095750"/>
            <a:ext cx="4286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48200" y="4152900"/>
            <a:ext cx="41338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Build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8200" y="42862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42862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BAC : 100 K€ (Dev, Integration, hosting, maintenance, support)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44577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62500" y="445770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Actual : 0.5 K€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8200" y="4629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62500" y="4629150"/>
            <a:ext cx="401955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EAC : - K€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26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272"/>
                </a:solidFill>
                <a:latin typeface="Arial"/>
              </a:rPr>
              <a:t>Project review: Plan compétence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8572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87630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BUDGET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1047750"/>
            <a:ext cx="8572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4800" y="1066800"/>
          <a:ext cx="8534400" cy="66675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Initial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Consumed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1">
                          <a:solidFill>
                            <a:srgbClr val="333333"/>
                          </a:solidFill>
                          <a:latin typeface="Arial"/>
                        </a:rPr>
                        <a:t>Landing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100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0.5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1.2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1 K€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</a:lnT>
                    <a:lnB w="6350" cap="flat" cmpd="sng" algn="ctr">
                      <a:solidFill>
                        <a:srgbClr val="CCCCCC"/>
                      </a:solidFill>
                    </a:lnB>
                    <a:lnL w="6350" cap="flat" cmpd="sng" algn="ctr">
                      <a:solidFill>
                        <a:srgbClr val="CCCCCC"/>
                      </a:solidFill>
                    </a:lnL>
                    <a:lnR w="6350" cap="flat" cmpd="sng" algn="ctr">
                      <a:solidFill>
                        <a:srgbClr val="CCCCCC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85750" y="2095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" y="21145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PROJECT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50" y="2286000"/>
            <a:ext cx="8572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50" y="23431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23431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Owner:</a:t>
            </a:r>
            <a:r>
              <a:rPr sz="825" b="0">
                <a:solidFill>
                  <a:srgbClr val="333333"/>
                </a:solidFill>
                <a:latin typeface="Arial"/>
              </a:rPr>
              <a:t> Emilie Delpante (PMO DSI)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" y="251460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251460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Sponsors:</a:t>
            </a:r>
            <a:r>
              <a:rPr sz="825" b="0">
                <a:solidFill>
                  <a:srgbClr val="333333"/>
                </a:solidFill>
                <a:latin typeface="Arial"/>
              </a:rPr>
              <a:t> Jean Claude La rue, Benedek Zsargó, Emilie Delpante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" y="2686050"/>
            <a:ext cx="95250" cy="1143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0000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2686050"/>
            <a:ext cx="83058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Business Leads:</a:t>
            </a:r>
            <a:r>
              <a:rPr sz="825" b="0">
                <a:solidFill>
                  <a:srgbClr val="333333"/>
                </a:solidFill>
                <a:latin typeface="Arial"/>
              </a:rPr>
              <a:t> bertran ruiz (DG), Thomas Merlot (Production director)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4429125"/>
            <a:ext cx="2857500" cy="14287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06272"/>
                </a:solidFill>
                <a:latin typeface="Arial"/>
              </a:rPr>
              <a:t>See the link: Followup budget file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26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272"/>
                </a:solidFill>
                <a:latin typeface="Arial"/>
              </a:rPr>
              <a:t>Plan compétence -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14375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33425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04875"/>
            <a:ext cx="85725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50" y="9810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Project Timeline:</a:t>
            </a:r>
            <a:r>
              <a:rPr sz="800" b="0">
                <a:solidFill>
                  <a:srgbClr val="333333"/>
                </a:solidFill>
                <a:latin typeface="Arial"/>
              </a:rPr>
              <a:t> Jan 7, 2024 - Jan 10,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50" y="1133475"/>
            <a:ext cx="8343900" cy="1905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0050" y="1133475"/>
            <a:ext cx="4422267" cy="190500"/>
          </a:xfrm>
          <a:prstGeom prst="roundRect">
            <a:avLst/>
          </a:prstGeom>
          <a:solidFill>
            <a:srgbClr val="006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8150" y="1133475"/>
            <a:ext cx="6858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53%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" y="14001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Key Milestones: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160020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160020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1er quarter plan sur le périmètre choisi - In Progress (40%)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1724025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1724025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Acheter les licenses - In Progress (7%)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1847850"/>
            <a:ext cx="9525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1847850"/>
            <a:ext cx="8001000" cy="1238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Ajustements post-pilote - To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" y="1971675"/>
            <a:ext cx="83439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Arial"/>
              </a:rPr>
              <a:t>Expected Benefits:</a:t>
            </a:r>
            <a:r>
              <a:rPr sz="800" b="0">
                <a:solidFill>
                  <a:srgbClr val="333333"/>
                </a:solidFill>
                <a:latin typeface="Arial"/>
              </a:rPr>
              <a:t> Meilleure prise en compte staffing RH, meilleure ergonomie, autonomie métier
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750" y="3619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750" y="36385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TEAM WORKLOAD IN M/D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285750" y="3810000"/>
          <a:ext cx="8572500" cy="876300"/>
        </p:xfrm>
        <a:graphic>
          <a:graphicData uri="http://schemas.openxmlformats.org/drawingml/2006/table">
            <a:tbl>
              <a:tblPr firstRow="0" bandRow="0" bandCol="0" lastRow="0" firstCol="0" lastCol="0"/>
              <a:tblGrid>
                <a:gridCol w="762000"/>
                <a:gridCol w="1301750"/>
                <a:gridCol w="1301750"/>
                <a:gridCol w="1301750"/>
                <a:gridCol w="1301750"/>
                <a:gridCol w="1301750"/>
                <a:gridCol w="1301750"/>
              </a:tblGrid>
              <a:tr h="21907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IT DATA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AirSaas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Maintenance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IT Sécu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IT Appli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Budget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Used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To do (m/d)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>
                          <a:solidFill>
                            <a:srgbClr val="333333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38100" marR="38100" marT="19050" marB="19050">
                    <a:lnT w="6350" cap="flat" cmpd="sng" algn="ctr">
                      <a:solidFill>
                        <a:srgbClr val="CCCCCC"/>
                      </a:solidFill>
                      <a:prstDash val="dash"/>
                    </a:lnT>
                    <a:lnB w="6350" cap="flat" cmpd="sng" algn="ctr">
                      <a:solidFill>
                        <a:srgbClr val="CCCCCC"/>
                      </a:solidFill>
                      <a:prstDash val="dash"/>
                    </a:lnB>
                    <a:lnL w="6350" cap="flat" cmpd="sng" algn="ctr">
                      <a:solidFill>
                        <a:srgbClr val="CCCCCC"/>
                      </a:solidFill>
                      <a:prstDash val="dash"/>
                    </a:lnL>
                    <a:lnR w="6350" cap="flat" cmpd="sng" algn="ctr">
                      <a:solidFill>
                        <a:srgbClr val="CCCCCC"/>
                      </a:solidFill>
                      <a:prstDash val="dash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solidFill>
            <a:srgbClr val="7A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91500" y="76200"/>
            <a:ext cx="952500" cy="4762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Jun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190500"/>
            <a:ext cx="7620000" cy="4800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272"/>
                </a:solidFill>
                <a:latin typeface="Arial"/>
              </a:rPr>
              <a:t>Data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" y="48387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0" y="48387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SYSTRA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7620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781050"/>
            <a:ext cx="85725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06272"/>
                </a:solidFill>
                <a:latin typeface="Arial"/>
              </a:rPr>
              <a:t>FIELDS NOT DIRECTLY MAPPED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" y="952500"/>
            <a:ext cx="857250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50" y="1009650"/>
            <a:ext cx="84201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The following template fields had no direct data mapping and were populated with derived or default values: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12382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1238250"/>
            <a:ext cx="81153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report_date:</a:t>
            </a:r>
            <a:r>
              <a:rPr sz="825" b="0">
                <a:solidFill>
                  <a:srgbClr val="333333"/>
                </a:solidFill>
                <a:latin typeface="Arial"/>
              </a:rPr>
              <a:t> Set to current month (Jun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14287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1428750"/>
            <a:ext cx="81153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followup_budget_link:</a:t>
            </a:r>
            <a:r>
              <a:rPr sz="825" b="0">
                <a:solidFill>
                  <a:srgbClr val="333333"/>
                </a:solidFill>
                <a:latin typeface="Arial"/>
              </a:rPr>
              <a:t> Placeholder link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" y="16192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1619250"/>
            <a:ext cx="81153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bac, actual, eac:</a:t>
            </a:r>
            <a:r>
              <a:rPr sz="825" b="0">
                <a:solidFill>
                  <a:srgbClr val="333333"/>
                </a:solidFill>
                <a:latin typeface="Arial"/>
              </a:rPr>
              <a:t> Derived from budget_capex, budget_capex_used, budget_capex_landing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18097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1809750"/>
            <a:ext cx="81153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trend_scope, trend_schedule, trend_budget:</a:t>
            </a:r>
            <a:r>
              <a:rPr sz="825" b="0">
                <a:solidFill>
                  <a:srgbClr val="333333"/>
                </a:solidFill>
                <a:latin typeface="Arial"/>
              </a:rPr>
              <a:t> Inferred from project risk and mood indicators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" y="20002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2000250"/>
            <a:ext cx="81153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budget_m_d_* fields:</a:t>
            </a:r>
            <a:r>
              <a:rPr sz="825" b="0">
                <a:solidFill>
                  <a:srgbClr val="333333"/>
                </a:solidFill>
                <a:latin typeface="Arial"/>
              </a:rPr>
              <a:t> Mapped from efforts array where team names matched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450" y="21907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2190750"/>
            <a:ext cx="81153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used_m_d_* fields:</a:t>
            </a:r>
            <a:r>
              <a:rPr sz="825" b="0">
                <a:solidFill>
                  <a:srgbClr val="333333"/>
                </a:solidFill>
                <a:latin typeface="Arial"/>
              </a:rPr>
              <a:t> Mapped from effort_used in efforts array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450" y="23812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2381250"/>
            <a:ext cx="81153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to_do_m_d_* fields:</a:t>
            </a:r>
            <a:r>
              <a:rPr sz="825" b="0">
                <a:solidFill>
                  <a:srgbClr val="333333"/>
                </a:solidFill>
                <a:latin typeface="Arial"/>
              </a:rPr>
              <a:t> Calculated as budget - used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950" y="2714625"/>
            <a:ext cx="84201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Projects with limited budget data: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450" y="2847975"/>
            <a:ext cx="9525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" y="2847975"/>
            <a:ext cx="81153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Management de la gestion des stocks - No budget values defined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450" y="3038475"/>
            <a:ext cx="9525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50" y="3038475"/>
            <a:ext cx="81153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Nouveau plan de compétence - Budget values not per fiscal year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450" y="3228975"/>
            <a:ext cx="9525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3228975"/>
            <a:ext cx="8115300" cy="190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333333"/>
                </a:solidFill>
                <a:latin typeface="Arial"/>
              </a:rPr>
              <a:t>Ticket restau dématérialisés - Budget values not per fiscal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950" y="3562350"/>
            <a:ext cx="8420100" cy="1333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333333"/>
                </a:solidFill>
                <a:latin typeface="Arial"/>
              </a:rPr>
              <a:t>Note:</a:t>
            </a:r>
            <a:r>
              <a:rPr sz="825" b="0">
                <a:solidFill>
                  <a:srgbClr val="333333"/>
                </a:solidFill>
                <a:latin typeface="Arial"/>
              </a:rPr>
              <a:t> All milestones shown are from the global milestones array and may include milestones from related projects within the same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